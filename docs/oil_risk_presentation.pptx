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0" cy="365760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7000" rIns="127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⏱ 30초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555566"/>
                </a:solidFill>
                <a:latin typeface="맑은 고딕"/>
              </a:rPr>
              <a:t>2026년 4월 7일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맑은 고딕"/>
              </a:rPr>
              <a:t>유가가 하루 만에 $15 폭락했습니다.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74C3C"/>
                </a:solidFill>
                <a:latin typeface="맑은 고딕"/>
              </a:rPr>
              <a:t>WTI 원유   $71.9  →  $57.0   │   단 하루   │   2026.04.07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5A623"/>
                </a:solidFill>
                <a:latin typeface="맑은 고딕"/>
              </a:rPr>
              <a:t>"이날 이후, 유가 리스크를 관리하는 기업과 당하는 기업의 운명이 갈렸습니다."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4572000"/>
            <a:ext cx="3931920" cy="1645920"/>
          </a:xfrm>
          <a:prstGeom prst="rect">
            <a:avLst/>
          </a:prstGeom>
          <a:solidFill>
            <a:srgbClr val="222233"/>
          </a:solidFill>
          <a:ln w="12700">
            <a:solidFill>
              <a:srgbClr val="55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502920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66"/>
                </a:solidFill>
                <a:latin typeface="맑은 고딕"/>
              </a:rPr>
              <a:t>[ 뉴스 헤드라인 스크린샷 삽입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914400" cy="365760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7000" rIns="127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⏱ 1분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맑은 고딕"/>
              </a:rPr>
              <a:t>유가 $1 차이, 기업엔 수백억입니다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737360"/>
            <a:ext cx="3474720" cy="4114800"/>
          </a:xfrm>
          <a:prstGeom prst="rect">
            <a:avLst/>
          </a:prstGeom>
          <a:solidFill>
            <a:srgbClr val="1A1A35"/>
          </a:solidFill>
          <a:ln w="1905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맑은 고딕"/>
              </a:rPr>
              <a:t>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060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A8FF"/>
                </a:solidFill>
                <a:latin typeface="맑은 고딕"/>
              </a:rPr>
              <a:t>대한항공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154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5A623"/>
                </a:solidFill>
                <a:latin typeface="맑은 고딕"/>
              </a:rPr>
              <a:t>연료비 연간 약 3.2조 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  <a:latin typeface="맑은 고딕"/>
              </a:rPr>
              <a:t>유가 $1 변동 = 연간 손익 약 300억 차이
(2024 사업보고서 기반 추정)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737360"/>
            <a:ext cx="3474720" cy="4114800"/>
          </a:xfrm>
          <a:prstGeom prst="rect">
            <a:avLst/>
          </a:prstGeom>
          <a:solidFill>
            <a:srgbClr val="1A1A35"/>
          </a:solidFill>
          <a:ln w="1905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920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맑은 고딕"/>
              </a:rPr>
              <a:t>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060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A8FF"/>
                </a:solidFill>
                <a:latin typeface="맑은 고딕"/>
              </a:rPr>
              <a:t>물류·운송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154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5A623"/>
                </a:solidFill>
                <a:latin typeface="맑은 고딕"/>
              </a:rPr>
              <a:t>유류비 = 전체 원가의 30~40%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7490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  <a:latin typeface="맑은 고딕"/>
              </a:rPr>
              <a:t>유가 10% 상승 → 영업이익 직격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737360"/>
            <a:ext cx="3474720" cy="4114800"/>
          </a:xfrm>
          <a:prstGeom prst="rect">
            <a:avLst/>
          </a:prstGeom>
          <a:solidFill>
            <a:srgbClr val="1A1A35"/>
          </a:solidFill>
          <a:ln w="1905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920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맑은 고딕"/>
              </a:rPr>
              <a:t>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6060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A8FF"/>
                </a:solidFill>
                <a:latin typeface="맑은 고딕"/>
              </a:rPr>
              <a:t>정유·석화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154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5A623"/>
                </a:solidFill>
                <a:latin typeface="맑은 고딕"/>
              </a:rPr>
              <a:t>원재료 = 원유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37490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  <a:latin typeface="맑은 고딕"/>
              </a:rPr>
              <a:t>하루 재고 손익이 수십억 단위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035040"/>
            <a:ext cx="11247120" cy="594360"/>
          </a:xfrm>
          <a:prstGeom prst="rect">
            <a:avLst/>
          </a:prstGeom>
          <a:solidFill>
            <a:srgbClr val="1A2A1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0350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7AE60"/>
                </a:solidFill>
                <a:latin typeface="맑은 고딕"/>
              </a:rPr>
              <a:t>"지금 여러분 회사는 내일 유가가 어디로 갈지 알고 계십니까?"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914400" cy="365760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7000" rIns="127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⏱ 1분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맑은 고딕"/>
              </a:rPr>
              <a:t>단일 지표로는 전체 그림이 안 보입니다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737360"/>
            <a:ext cx="3474720" cy="3840480"/>
          </a:xfrm>
          <a:prstGeom prst="rect">
            <a:avLst/>
          </a:prstGeom>
          <a:solidFill>
            <a:srgbClr val="2A1212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맑은 고딕"/>
              </a:rPr>
              <a:t>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060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맑은 고딕"/>
              </a:rPr>
              <a:t>뉴스만 모니터링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EBBBB"/>
                </a:solidFill>
                <a:latin typeface="맑은 고딕"/>
              </a:rPr>
              <a:t>몇 개 기사 읽고
주관적으로 해석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43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74C3C"/>
                </a:solidFill>
                <a:latin typeface="맑은 고딕"/>
              </a:rPr>
              <a:t>수급·포지션 데이터와
통합 불가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737360"/>
            <a:ext cx="3474720" cy="3840480"/>
          </a:xfrm>
          <a:prstGeom prst="rect">
            <a:avLst/>
          </a:prstGeom>
          <a:solidFill>
            <a:srgbClr val="2A1212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920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맑은 고딕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060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맑은 고딕"/>
              </a:rPr>
              <a:t>전문가 리포트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2004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EBBBB"/>
                </a:solidFill>
                <a:latin typeface="맑은 고딕"/>
              </a:rPr>
              <a:t>주간·월간 발행 주기
매일 바뀌는 시장에 부적합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4343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74C3C"/>
                </a:solidFill>
                <a:latin typeface="맑은 고딕"/>
              </a:rPr>
              <a:t>의사결정 시점과
항상 어긋남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737360"/>
            <a:ext cx="3474720" cy="3840480"/>
          </a:xfrm>
          <a:prstGeom prst="rect">
            <a:avLst/>
          </a:prstGeom>
          <a:solidFill>
            <a:srgbClr val="2A1212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920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맑은 고딕"/>
              </a:rPr>
              <a:t>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6060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맑은 고딕"/>
              </a:rPr>
              <a:t>엑셀 수작업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32004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EBBBB"/>
                </a:solidFill>
                <a:latin typeface="맑은 고딕"/>
              </a:rPr>
              <a:t>지표 하나씩 따로 추적
복합 신호 통합 불가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4343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74C3C"/>
                </a:solidFill>
                <a:latin typeface="맑은 고딕"/>
              </a:rPr>
              <a:t>500개 신호 동시
처리 불가능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5A623"/>
                </a:solidFill>
                <a:latin typeface="맑은 고딕"/>
              </a:rPr>
              <a:t>뉴스·리포트·수치 — 각각 따로 보면 항상 그림의 일부만 보입니다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0" cy="365760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7000" rIns="127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⏱ 30초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맑은 고딕"/>
              </a:rPr>
              <a:t>7일 앞을 먼저 보여드립니다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737360"/>
            <a:ext cx="5760720" cy="82296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178308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유가 리스크 예측 SaaS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743200"/>
            <a:ext cx="9418320" cy="3291840"/>
          </a:xfrm>
          <a:prstGeom prst="rect">
            <a:avLst/>
          </a:prstGeom>
          <a:solidFill>
            <a:srgbClr val="101830"/>
          </a:solidFill>
          <a:ln w="254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55566"/>
                </a:solidFill>
                <a:latin typeface="맑은 고딕"/>
              </a:rPr>
              <a:t>[ 대시보드 스크린샷 삽입 ]
예측 차트 + 리스크 등급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5A623"/>
                </a:solidFill>
                <a:latin typeface="맑은 고딕"/>
              </a:rPr>
              <a:t>브라우저만 있으면 됩니다.  설치 없음.  코딩 없음.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463040" cy="365760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7000" rIns="127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⏱ 1분 30초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</a:rPr>
              <a:t>기상청처럼 — 500가지 정보를 읽어 7일 후 유가를 예보합니다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737360"/>
            <a:ext cx="2377440" cy="41148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7000" rIns="127000"/>
          <a:lstStyle/>
          <a:p>
            <a:pPr algn="ctr"/>
            <a:r>
              <a:rPr sz="1300" b="1">
                <a:solidFill>
                  <a:srgbClr val="00A8FF"/>
                </a:solidFill>
                <a:latin typeface="맑은 고딕"/>
              </a:rPr>
              <a:t>[ 입력 ]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94560"/>
            <a:ext cx="2377440" cy="658368"/>
          </a:xfrm>
          <a:prstGeom prst="rect">
            <a:avLst/>
          </a:prstGeom>
          <a:solidFill>
            <a:srgbClr val="182233"/>
          </a:solidFill>
          <a:ln w="1016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194560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📦 EIA 원유 재고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926080"/>
            <a:ext cx="2377440" cy="658368"/>
          </a:xfrm>
          <a:prstGeom prst="rect">
            <a:avLst/>
          </a:prstGeom>
          <a:solidFill>
            <a:srgbClr val="182233"/>
          </a:solidFill>
          <a:ln w="1016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926080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📰 뉴스·지정학 감성 분석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657600"/>
            <a:ext cx="2377440" cy="658368"/>
          </a:xfrm>
          <a:prstGeom prst="rect">
            <a:avLst/>
          </a:prstGeom>
          <a:solidFill>
            <a:srgbClr val="182233"/>
          </a:solidFill>
          <a:ln w="1016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3657600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📊 시장 변동성 (OVX)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389120"/>
            <a:ext cx="2377440" cy="658368"/>
          </a:xfrm>
          <a:prstGeom prst="rect">
            <a:avLst/>
          </a:prstGeom>
          <a:solidFill>
            <a:srgbClr val="182233"/>
          </a:solidFill>
          <a:ln w="1016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4389120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🗓 OPEC 생산 · 회의 일정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120640"/>
            <a:ext cx="2377440" cy="658368"/>
          </a:xfrm>
          <a:prstGeom prst="rect">
            <a:avLst/>
          </a:prstGeom>
          <a:solidFill>
            <a:srgbClr val="182233"/>
          </a:solidFill>
          <a:ln w="1016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120640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맑은 고딕"/>
              </a:rPr>
              <a:t>🗺 지정학 이슈</a:t>
            </a:r>
          </a:p>
        </p:txBody>
      </p:sp>
      <p:sp>
        <p:nvSpPr>
          <p:cNvPr id="15" name="Can 14"/>
          <p:cNvSpPr/>
          <p:nvPr/>
        </p:nvSpPr>
        <p:spPr>
          <a:xfrm>
            <a:off x="2880360" y="2331720"/>
            <a:ext cx="457200" cy="365760"/>
          </a:xfrm>
          <a:prstGeom prst="can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n 15"/>
          <p:cNvSpPr/>
          <p:nvPr/>
        </p:nvSpPr>
        <p:spPr>
          <a:xfrm>
            <a:off x="2880360" y="3108960"/>
            <a:ext cx="457200" cy="365760"/>
          </a:xfrm>
          <a:prstGeom prst="can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 16"/>
          <p:cNvSpPr/>
          <p:nvPr/>
        </p:nvSpPr>
        <p:spPr>
          <a:xfrm>
            <a:off x="2880360" y="3886200"/>
            <a:ext cx="457200" cy="365760"/>
          </a:xfrm>
          <a:prstGeom prst="can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17520" y="1737360"/>
            <a:ext cx="3657600" cy="4572000"/>
          </a:xfrm>
          <a:prstGeom prst="rect">
            <a:avLst/>
          </a:prstGeom>
          <a:solidFill>
            <a:srgbClr val="101835"/>
          </a:solidFill>
          <a:ln w="317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623"/>
                </a:solidFill>
                <a:latin typeface="맑은 고딕"/>
              </a:rPr>
              <a:t>[ AI 분석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23774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A8FF"/>
                </a:solidFill>
                <a:latin typeface="맑은 고딕"/>
              </a:rPr>
              <a:t>AI 예측 모델 (머신러닝)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1089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55566"/>
                </a:solidFill>
                <a:latin typeface="맑은 고딕"/>
              </a:rP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840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7AE60"/>
                </a:solidFill>
                <a:latin typeface="맑은 고딕"/>
              </a:rPr>
              <a:t>추세·계절성 분석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5720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55566"/>
                </a:solidFill>
                <a:latin typeface="맑은 고딕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53035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B3FA0"/>
                </a:solidFill>
                <a:latin typeface="맑은 고딕"/>
              </a:rPr>
              <a:t>실시간 감성 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5760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623"/>
                </a:solidFill>
                <a:latin typeface="맑은 고딕"/>
              </a:rPr>
              <a:t>3단계 복합 분석</a:t>
            </a:r>
          </a:p>
        </p:txBody>
      </p:sp>
      <p:sp>
        <p:nvSpPr>
          <p:cNvPr id="26" name="Can 25"/>
          <p:cNvSpPr/>
          <p:nvPr/>
        </p:nvSpPr>
        <p:spPr>
          <a:xfrm>
            <a:off x="6812280" y="3200400"/>
            <a:ext cx="457200" cy="365760"/>
          </a:xfrm>
          <a:prstGeom prst="can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95160" y="1737360"/>
            <a:ext cx="3474720" cy="4572000"/>
          </a:xfrm>
          <a:prstGeom prst="rect">
            <a:avLst/>
          </a:prstGeom>
          <a:solidFill>
            <a:srgbClr val="0D220D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1828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맑은 고딕"/>
              </a:rPr>
              <a:t>[ 출력 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2377440"/>
            <a:ext cx="3200400" cy="1005840"/>
          </a:xfrm>
          <a:prstGeom prst="rect">
            <a:avLst/>
          </a:prstGeom>
          <a:solidFill>
            <a:srgbClr val="183018"/>
          </a:solidFill>
          <a:ln w="1524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23774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A8FF"/>
                </a:solidFill>
                <a:latin typeface="맑은 고딕"/>
              </a:rPr>
              <a:t>📈 7일 예측 가격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3566160"/>
            <a:ext cx="3200400" cy="1005840"/>
          </a:xfrm>
          <a:prstGeom prst="rect">
            <a:avLst/>
          </a:prstGeom>
          <a:solidFill>
            <a:srgbClr val="183018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35661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A623"/>
                </a:solidFill>
                <a:latin typeface="맑은 고딕"/>
              </a:rPr>
              <a:t>⚠️  리스크 등급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4754880"/>
            <a:ext cx="3200400" cy="1005840"/>
          </a:xfrm>
          <a:prstGeom prst="rect">
            <a:avLst/>
          </a:prstGeom>
          <a:solidFill>
            <a:srgbClr val="183018"/>
          </a:solidFill>
          <a:ln w="1524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47548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74C3C"/>
                </a:solidFill>
                <a:latin typeface="맑은 고딕"/>
              </a:rPr>
              <a:t>🔔 극단 변동성 경보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66"/>
                </a:solidFill>
                <a:latin typeface="맑은 고딕"/>
              </a:rPr>
              <a:t>매일 새벽 자동 실행  ·  데이터 수집 → 분석 → 알림까지 무인 자동화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914400" cy="365760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7000" rIns="127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⏱ 1분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맑은 고딕"/>
              </a:rPr>
              <a:t>담당자가 실제로 쓰는 기능 3가지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691640"/>
            <a:ext cx="3566160" cy="4663440"/>
          </a:xfrm>
          <a:prstGeom prst="rect">
            <a:avLst/>
          </a:prstGeom>
          <a:solidFill>
            <a:srgbClr val="101830"/>
          </a:solidFill>
          <a:ln w="3175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맑은 고딕"/>
              </a:rPr>
              <a:t>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60604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A8FF"/>
                </a:solidFill>
                <a:latin typeface="맑은 고딕"/>
              </a:rPr>
              <a:t>7일 가격 예측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2461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  <a:latin typeface="맑은 고딕"/>
              </a:rPr>
              <a:t>D+1 ~ D+7
일별 예상 가격 제공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26280"/>
            <a:ext cx="3291840" cy="1463040"/>
          </a:xfrm>
          <a:prstGeom prst="rect">
            <a:avLst/>
          </a:prstGeom>
          <a:solidFill>
            <a:srgbClr val="1A1A2E"/>
          </a:solidFill>
          <a:ln w="127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5262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5A623"/>
                </a:solidFill>
                <a:latin typeface="맑은 고딕"/>
              </a:rPr>
              <a:t>"헤지 계약 타이밍
 결정에 활용"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2232" y="1691640"/>
            <a:ext cx="3566160" cy="4663440"/>
          </a:xfrm>
          <a:prstGeom prst="rect">
            <a:avLst/>
          </a:prstGeom>
          <a:solidFill>
            <a:srgbClr val="101830"/>
          </a:solidFill>
          <a:ln w="317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42232" y="18288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맑은 고딕"/>
              </a:rPr>
              <a:t>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2232" y="260604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  <a:latin typeface="맑은 고딕"/>
              </a:rPr>
              <a:t>리스크 등급 알림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3672" y="32461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  <a:latin typeface="맑은 고딕"/>
              </a:rPr>
              <a:t>SURGE_RISK / DROP_RISK
/ CAUTION / NORMAL 자동 분류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4526280"/>
            <a:ext cx="3291840" cy="1463040"/>
          </a:xfrm>
          <a:prstGeom prst="rect">
            <a:avLst/>
          </a:prstGeom>
          <a:solidFill>
            <a:srgbClr val="1A1A2E"/>
          </a:solidFill>
          <a:ln w="127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9392" y="45262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5A623"/>
                </a:solidFill>
                <a:latin typeface="맑은 고딕"/>
              </a:rPr>
              <a:t>"오늘 구매할까
 말까 판단"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64424" y="1691640"/>
            <a:ext cx="3566160" cy="4663440"/>
          </a:xfrm>
          <a:prstGeom prst="rect">
            <a:avLst/>
          </a:prstGeom>
          <a:solidFill>
            <a:srgbClr val="101830"/>
          </a:solidFill>
          <a:ln w="317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4424" y="18288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맑은 고딕"/>
              </a:rPr>
              <a:t>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4424" y="260604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74C3C"/>
                </a:solidFill>
                <a:latin typeface="맑은 고딕"/>
              </a:rPr>
              <a:t>극단 변동성 경보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2461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  <a:latin typeface="맑은 고딕"/>
              </a:rPr>
              <a:t>변동성 지수 · 예상 손실
시장 급등·급락 징후 자동 감지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1584" y="4526280"/>
            <a:ext cx="3291840" cy="1463040"/>
          </a:xfrm>
          <a:prstGeom prst="rect">
            <a:avLst/>
          </a:prstGeom>
          <a:solidFill>
            <a:srgbClr val="1A1A2E"/>
          </a:solidFill>
          <a:ln w="1270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1584" y="452628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5A623"/>
                </a:solidFill>
                <a:latin typeface="맑은 고딕"/>
              </a:rPr>
              <a:t>"최악의 날을
 대비할 수 있음"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0" cy="365760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7000" rIns="127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⏱ 45초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맑은 고딕"/>
              </a:rPr>
              <a:t>데이터는 전부 공식 기관 출처입니다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91640"/>
            <a:ext cx="3657600" cy="5029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A8FF"/>
                </a:solidFill>
                <a:latin typeface="맑은 고딕"/>
              </a:rPr>
              <a:t>데이터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691640"/>
            <a:ext cx="3383280" cy="5029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6916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A8FF"/>
                </a:solidFill>
                <a:latin typeface="맑은 고딕"/>
              </a:rPr>
              <a:t>제공 기관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691640"/>
            <a:ext cx="3840480" cy="5029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A8FF"/>
                </a:solidFill>
                <a:latin typeface="맑은 고딕"/>
              </a:rPr>
              <a:t>신뢰 근거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0280"/>
            <a:ext cx="3657600" cy="868680"/>
          </a:xfrm>
          <a:prstGeom prst="rect">
            <a:avLst/>
          </a:prstGeom>
          <a:solidFill>
            <a:srgbClr val="121828"/>
          </a:solidFill>
          <a:ln w="254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24028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A8FF"/>
                </a:solidFill>
                <a:latin typeface="맑은 고딕"/>
              </a:rPr>
              <a:t>📦 원유 재고·수급 통계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2240280"/>
            <a:ext cx="3383280" cy="868680"/>
          </a:xfrm>
          <a:prstGeom prst="rect">
            <a:avLst/>
          </a:prstGeom>
          <a:solidFill>
            <a:srgbClr val="121828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22402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</a:rPr>
              <a:t>EIA
(미국 에너지청)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2240280"/>
            <a:ext cx="3840480" cy="868680"/>
          </a:xfrm>
          <a:prstGeom prst="rect">
            <a:avLst/>
          </a:prstGeom>
          <a:solidFill>
            <a:srgbClr val="121828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2240280"/>
            <a:ext cx="3749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</a:rPr>
              <a:t>미국 연방정부 공식 기관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54680"/>
            <a:ext cx="3657600" cy="868680"/>
          </a:xfrm>
          <a:prstGeom prst="rect">
            <a:avLst/>
          </a:prstGeom>
          <a:solidFill>
            <a:srgbClr val="18203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15468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7AE60"/>
                </a:solidFill>
                <a:latin typeface="맑은 고딕"/>
              </a:rPr>
              <a:t>💹 시장 포지션 (투기/헤지)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3154680"/>
            <a:ext cx="3383280" cy="868680"/>
          </a:xfrm>
          <a:prstGeom prst="rect">
            <a:avLst/>
          </a:prstGeom>
          <a:solidFill>
            <a:srgbClr val="182035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31546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</a:rPr>
              <a:t>CFTC
(미 상품선물거래위원회)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3154680"/>
            <a:ext cx="3840480" cy="868680"/>
          </a:xfrm>
          <a:prstGeom prst="rect">
            <a:avLst/>
          </a:prstGeom>
          <a:solidFill>
            <a:srgbClr val="182035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3154680"/>
            <a:ext cx="3749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</a:rPr>
              <a:t>미국 금융 규제기관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69080"/>
            <a:ext cx="3657600" cy="868680"/>
          </a:xfrm>
          <a:prstGeom prst="rect">
            <a:avLst/>
          </a:prstGeom>
          <a:solidFill>
            <a:srgbClr val="121828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06908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A623"/>
                </a:solidFill>
                <a:latin typeface="맑은 고딕"/>
              </a:rPr>
              <a:t>📰 지정학 뉴스 500+ 소스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4069080"/>
            <a:ext cx="3383280" cy="868680"/>
          </a:xfrm>
          <a:prstGeom prst="rect">
            <a:avLst/>
          </a:prstGeom>
          <a:solidFill>
            <a:srgbClr val="121828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0520" y="40690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</a:rPr>
              <a:t>NewsAPI · RSS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4069080"/>
            <a:ext cx="3840480" cy="868680"/>
          </a:xfrm>
          <a:prstGeom prst="rect">
            <a:avLst/>
          </a:prstGeom>
          <a:solidFill>
            <a:srgbClr val="121828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4069080"/>
            <a:ext cx="3749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</a:rPr>
              <a:t>글로벌 주요 언론 실시간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983480"/>
            <a:ext cx="3657600" cy="868680"/>
          </a:xfrm>
          <a:prstGeom prst="rect">
            <a:avLst/>
          </a:prstGeom>
          <a:solidFill>
            <a:srgbClr val="182035"/>
          </a:solidFill>
          <a:ln w="25400">
            <a:solidFill>
              <a:srgbClr val="7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98348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B3FA0"/>
                </a:solidFill>
                <a:latin typeface="맑은 고딕"/>
              </a:rPr>
              <a:t>📊 시장 가격·변동성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4983480"/>
            <a:ext cx="3383280" cy="868680"/>
          </a:xfrm>
          <a:prstGeom prst="rect">
            <a:avLst/>
          </a:prstGeom>
          <a:solidFill>
            <a:srgbClr val="182035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0520" y="49834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</a:rPr>
              <a:t>Yahoo Finance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4983480"/>
            <a:ext cx="3840480" cy="868680"/>
          </a:xfrm>
          <a:prstGeom prst="rect">
            <a:avLst/>
          </a:prstGeom>
          <a:solidFill>
            <a:srgbClr val="182035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40" y="4983480"/>
            <a:ext cx="3749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</a:rPr>
              <a:t>글로벌 시장 표준 데이터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989320"/>
            <a:ext cx="11430000" cy="640080"/>
          </a:xfrm>
          <a:prstGeom prst="rect">
            <a:avLst/>
          </a:prstGeom>
          <a:solidFill>
            <a:srgbClr val="0D200D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989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7AE60"/>
                </a:solidFill>
                <a:latin typeface="맑은 고딕"/>
              </a:rPr>
              <a:t>골드만삭스 원자재 리서치팀이 참조하는 것과 동일한 공식 데이터를 사용합니다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0" cy="365760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7000" rIns="127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⏱ 45초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맑은 고딕"/>
              </a:rPr>
              <a:t>100% 예측은 거짓말입니다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5A623"/>
                </a:solidFill>
                <a:latin typeface="맑은 고딕"/>
              </a:rPr>
              <a:t>우리는  "언제 조심해야 하는지"를 알려드립니다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303520" cy="4206240"/>
          </a:xfrm>
          <a:prstGeom prst="rect">
            <a:avLst/>
          </a:prstGeom>
          <a:solidFill>
            <a:srgbClr val="121828"/>
          </a:solidFill>
          <a:ln w="317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7AE60"/>
                </a:solidFill>
                <a:latin typeface="맑은 고딕"/>
              </a:rPr>
              <a:t>✅ 잘 작동하는 상황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맑은 고딕"/>
              </a:rPr>
              <a:t>평시 가격 흐름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7472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맑은 고딕"/>
              </a:rPr>
              <a:t>방향성 적중률 61%
(학습 데이터 기준)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29768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맑은 고딕"/>
              </a:rPr>
              <a:t>오차 평균 $2 이내
(평상시 기준)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2064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맑은 고딕"/>
              </a:rPr>
              <a:t>가격 방향 전환 사전 감지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920240"/>
            <a:ext cx="5303520" cy="4206240"/>
          </a:xfrm>
          <a:prstGeom prst="rect">
            <a:avLst/>
          </a:prstGeom>
          <a:solidFill>
            <a:srgbClr val="121828"/>
          </a:solidFill>
          <a:ln w="317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74C3C"/>
                </a:solidFill>
                <a:latin typeface="맑은 고딕"/>
              </a:rPr>
              <a:t>❌ 솔직한 한계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5176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맑은 고딕"/>
              </a:rPr>
              <a:t>주말 외부 충격
(관세 발표·전쟁 등)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47472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맑은 고딕"/>
              </a:rPr>
              <a:t>당일 급락
(전일까지 신호 없음)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29768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맑은 고딕"/>
              </a:rPr>
              <a:t>지정학 충격 직후
72시간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solidFill>
            <a:srgbClr val="1A1A10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5A623"/>
                </a:solidFill>
                <a:latin typeface="맑은 고딕"/>
              </a:rPr>
              <a:t>예측 신뢰 구간과 적용 범위를 명시합니다 — 이것이 신뢰의 근거입니다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914400" cy="365760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7000" rIns="127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⏱ 1분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</a:rPr>
              <a:t>숫자로 증명합니다  —  3년치 실제 데이터 시뮬레이션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4023360" cy="5029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A8FF"/>
                </a:solidFill>
                <a:latin typeface="맑은 고딕"/>
              </a:rPr>
              <a:t>비교 대상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600200"/>
            <a:ext cx="3108960" cy="5029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002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A8FF"/>
                </a:solidFill>
                <a:latin typeface="맑은 고딕"/>
              </a:rPr>
              <a:t>오차 점수 (낮을수록 좋음)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600200"/>
            <a:ext cx="3657600" cy="5029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6002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A8FF"/>
                </a:solidFill>
                <a:latin typeface="맑은 고딕"/>
              </a:rPr>
              <a:t>설명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4023360" cy="914400"/>
          </a:xfrm>
          <a:prstGeom prst="rect">
            <a:avLst/>
          </a:prstGeom>
          <a:solidFill>
            <a:srgbClr val="181A28"/>
          </a:solidFill>
          <a:ln w="1016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맑은 고딕"/>
              </a:rPr>
              <a:t>Persistence
(아무것도 안 한 것)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148840"/>
            <a:ext cx="3108960" cy="914400"/>
          </a:xfrm>
          <a:prstGeom prst="rect">
            <a:avLst/>
          </a:prstGeom>
          <a:solidFill>
            <a:srgbClr val="181A28"/>
          </a:solidFill>
          <a:ln w="1016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1488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55566"/>
                </a:solidFill>
                <a:latin typeface="맑은 고딕"/>
              </a:rPr>
              <a:t>1.000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2148840"/>
            <a:ext cx="3657600" cy="914400"/>
          </a:xfrm>
          <a:prstGeom prst="rect">
            <a:avLst/>
          </a:prstGeom>
          <a:solidFill>
            <a:srgbClr val="181A28"/>
          </a:solidFill>
          <a:ln w="1016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21488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55566"/>
                </a:solidFill>
                <a:latin typeface="맑은 고딕"/>
              </a:rPr>
              <a:t>기준선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08960"/>
            <a:ext cx="4023360" cy="914400"/>
          </a:xfrm>
          <a:prstGeom prst="rect">
            <a:avLst/>
          </a:prstGeom>
          <a:solidFill>
            <a:srgbClr val="181A28"/>
          </a:solidFill>
          <a:ln w="1016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10896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맑은 고딕"/>
              </a:rPr>
              <a:t>기존 통계 예측 모델
(ETS / VAR)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108960"/>
            <a:ext cx="3108960" cy="914400"/>
          </a:xfrm>
          <a:prstGeom prst="rect">
            <a:avLst/>
          </a:prstGeom>
          <a:solidFill>
            <a:srgbClr val="181A28"/>
          </a:solidFill>
          <a:ln w="1016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1089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55566"/>
                </a:solidFill>
                <a:latin typeface="맑은 고딕"/>
              </a:rPr>
              <a:t>~1.000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3108960"/>
            <a:ext cx="3657600" cy="914400"/>
          </a:xfrm>
          <a:prstGeom prst="rect">
            <a:avLst/>
          </a:prstGeom>
          <a:solidFill>
            <a:srgbClr val="181A28"/>
          </a:solidFill>
          <a:ln w="1016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310896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55566"/>
                </a:solidFill>
                <a:latin typeface="맑은 고딕"/>
              </a:rPr>
              <a:t>기준선 수준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69080"/>
            <a:ext cx="4023360" cy="914400"/>
          </a:xfrm>
          <a:prstGeom prst="rect">
            <a:avLst/>
          </a:prstGeom>
          <a:solidFill>
            <a:srgbClr val="0D200D"/>
          </a:solidFill>
          <a:ln w="381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06908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맑은 고딕"/>
              </a:rPr>
              <a:t>우리 시스템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069080"/>
            <a:ext cx="3108960" cy="914400"/>
          </a:xfrm>
          <a:prstGeom prst="rect">
            <a:avLst/>
          </a:prstGeom>
          <a:solidFill>
            <a:srgbClr val="0D200D"/>
          </a:solidFill>
          <a:ln w="381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40690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A623"/>
                </a:solidFill>
                <a:latin typeface="맑은 고딕"/>
              </a:rPr>
              <a:t>0.602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4069080"/>
            <a:ext cx="3657600" cy="914400"/>
          </a:xfrm>
          <a:prstGeom prst="rect">
            <a:avLst/>
          </a:prstGeom>
          <a:solidFill>
            <a:srgbClr val="0D200D"/>
          </a:solidFill>
          <a:ln w="381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40690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A623"/>
                </a:solidFill>
                <a:latin typeface="맑은 고딕"/>
              </a:rPr>
              <a:t>기준 대비 40% 개선 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572000"/>
            <a:ext cx="3474720" cy="1691640"/>
          </a:xfrm>
          <a:prstGeom prst="rect">
            <a:avLst/>
          </a:prstGeom>
          <a:solidFill>
            <a:srgbClr val="101830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663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A623"/>
                </a:solidFill>
                <a:latin typeface="맑은 고딕"/>
              </a:rPr>
              <a:t>40%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5321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맑은 고딕"/>
              </a:rPr>
              <a:t>예측 오차 개선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4572000"/>
            <a:ext cx="3474720" cy="1691640"/>
          </a:xfrm>
          <a:prstGeom prst="rect">
            <a:avLst/>
          </a:prstGeom>
          <a:solidFill>
            <a:srgbClr val="101830"/>
          </a:solidFill>
          <a:ln w="254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60520" y="4663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A8FF"/>
                </a:solidFill>
                <a:latin typeface="맑은 고딕"/>
              </a:rPr>
              <a:t>61%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55321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맑은 고딕"/>
              </a:rPr>
              <a:t>방향성 적중률
(학습 기준)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4572000"/>
            <a:ext cx="3474720" cy="1691640"/>
          </a:xfrm>
          <a:prstGeom prst="rect">
            <a:avLst/>
          </a:prstGeom>
          <a:solidFill>
            <a:srgbClr val="10183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4663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7AE60"/>
                </a:solidFill>
                <a:latin typeface="맑은 고딕"/>
              </a:rPr>
              <a:t>$2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5321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맑은 고딕"/>
              </a:rPr>
              <a:t>평균 예측 오차
(평상시 기준)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66"/>
                </a:solidFill>
                <a:latin typeface="맑은 고딕"/>
              </a:rPr>
              <a:t>3년치 실제 데이터로 시뮬레이션 검증  ·  점수: 낮을수록 정확 (1.0 = 예측 안 한 것과 동일)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463040" cy="365760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7000" rIns="127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⏱ 1분 30초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맑은 고딕"/>
              </a:rPr>
              <a:t>전문성은 Bloomberg급  —  가격은 그 이하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486400" cy="4389120"/>
          </a:xfrm>
          <a:prstGeom prst="rect">
            <a:avLst/>
          </a:prstGeom>
          <a:solidFill>
            <a:srgbClr val="101428"/>
          </a:solidFill>
          <a:ln w="12700">
            <a:solidFill>
              <a:srgbClr val="55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1600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66"/>
                </a:solidFill>
                <a:latin typeface="맑은 고딕"/>
              </a:rPr>
              <a:t>고가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66"/>
                </a:solidFill>
                <a:latin typeface="맑은 고딕"/>
              </a:rPr>
              <a:t>저가 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20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66"/>
                </a:solidFill>
                <a:latin typeface="맑은 고딕"/>
              </a:rPr>
              <a:t>← 복잡함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5204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566"/>
                </a:solidFill>
                <a:latin typeface="맑은 고딕"/>
              </a:rPr>
              <a:t>단순함 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194560"/>
            <a:ext cx="1371600" cy="822960"/>
          </a:xfrm>
          <a:prstGeom prst="rect">
            <a:avLst/>
          </a:prstGeom>
          <a:solidFill>
            <a:srgbClr val="202040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19456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74C3C"/>
                </a:solidFill>
                <a:latin typeface="맑은 고딕"/>
              </a:rPr>
              <a:t>Bloomberg
Terminal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3474720"/>
            <a:ext cx="1371600" cy="822960"/>
          </a:xfrm>
          <a:prstGeom prst="rect">
            <a:avLst/>
          </a:prstGeom>
          <a:solidFill>
            <a:srgbClr val="202040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4747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623"/>
                </a:solidFill>
                <a:latin typeface="맑은 고딕"/>
              </a:rPr>
              <a:t>우리 시스템
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4663440"/>
            <a:ext cx="1371600" cy="822960"/>
          </a:xfrm>
          <a:prstGeom prst="rect">
            <a:avLst/>
          </a:prstGeom>
          <a:solidFill>
            <a:srgbClr val="202040"/>
          </a:solidFill>
          <a:ln w="25400">
            <a:solidFill>
              <a:srgbClr val="55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466344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55566"/>
                </a:solidFill>
                <a:latin typeface="맑은 고딕"/>
              </a:rPr>
              <a:t>엑셀 / 직관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A8FF"/>
                </a:solidFill>
                <a:latin typeface="맑은 고딕"/>
              </a:rPr>
              <a:t>주요 타겟 고객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103120"/>
            <a:ext cx="5394960" cy="1234440"/>
          </a:xfrm>
          <a:prstGeom prst="rect">
            <a:avLst/>
          </a:prstGeom>
          <a:solidFill>
            <a:srgbClr val="121828"/>
          </a:solidFill>
          <a:ln w="1905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1945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🚚  중견 물류·운송사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743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A623"/>
                </a:solidFill>
                <a:latin typeface="맑은 고딕"/>
              </a:rPr>
              <a:t>유류비 = 원가의 30~40%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474720"/>
            <a:ext cx="5394960" cy="1234440"/>
          </a:xfrm>
          <a:prstGeom prst="rect">
            <a:avLst/>
          </a:prstGeom>
          <a:solidFill>
            <a:srgbClr val="121828"/>
          </a:solidFill>
          <a:ln w="1905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5661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📈  에너지 트레이더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114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A623"/>
                </a:solidFill>
                <a:latin typeface="맑은 고딕"/>
              </a:rPr>
              <a:t>포지션 진입 타이밍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846320"/>
            <a:ext cx="5394960" cy="1234440"/>
          </a:xfrm>
          <a:prstGeom prst="rect">
            <a:avLst/>
          </a:prstGeom>
          <a:solidFill>
            <a:srgbClr val="121828"/>
          </a:solidFill>
          <a:ln w="1905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9377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🏭  정유·석화 구매팀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486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A623"/>
                </a:solidFill>
                <a:latin typeface="맑은 고딕"/>
              </a:rPr>
              <a:t>원재료 구매 최적화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5A623"/>
                </a:solidFill>
                <a:latin typeface="맑은 고딕"/>
              </a:rPr>
              <a:t>"Bloomberg Terminal은 너무 비쌉니다. 엑셀은 너무 허술합니다. 저희는 그 사이입니다."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914400" cy="365760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7000" rIns="127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⏱ 1분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맑은 고딕"/>
              </a:rPr>
              <a:t>Freemium → SaaS 전환 수익 모델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691640"/>
            <a:ext cx="3566160" cy="4343400"/>
          </a:xfrm>
          <a:prstGeom prst="rect">
            <a:avLst/>
          </a:prstGeom>
          <a:solidFill>
            <a:srgbClr val="101830"/>
          </a:solidFill>
          <a:ln w="19050">
            <a:solidFill>
              <a:srgbClr val="55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691640"/>
            <a:ext cx="3566160" cy="594360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7000" rIns="127000"/>
          <a:lstStyle/>
          <a:p>
            <a:pPr algn="ctr"/>
            <a:r>
              <a:rPr sz="2000" b="1">
                <a:solidFill>
                  <a:srgbClr val="1A1A2E"/>
                </a:solidFill>
                <a:latin typeface="맑은 고딕"/>
              </a:rPr>
              <a:t>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33172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55566"/>
                </a:solidFill>
                <a:latin typeface="맑은 고딕"/>
              </a:rPr>
              <a:t>₩ 0 / 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0175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66"/>
                </a:solidFill>
                <a:latin typeface="맑은 고딕"/>
              </a:rPr>
              <a:t>체험 · 유입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✓  기본 예측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160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✓  리스크 등급 확인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691640"/>
            <a:ext cx="3566160" cy="4343400"/>
          </a:xfrm>
          <a:prstGeom prst="rect">
            <a:avLst/>
          </a:prstGeom>
          <a:solidFill>
            <a:srgbClr val="101830"/>
          </a:solidFill>
          <a:ln w="1905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691640"/>
            <a:ext cx="3566160" cy="59436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7000" rIns="12700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STANDARD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33172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A8FF"/>
                </a:solidFill>
                <a:latin typeface="맑은 고딕"/>
              </a:rPr>
              <a:t>₩ 490,000 / 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30175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66"/>
                </a:solidFill>
                <a:latin typeface="맑은 고딕"/>
              </a:rPr>
              <a:t>중소 물류사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611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✓  7일 예측 전체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4160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✓  리스크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709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✓  이메일 알림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691640"/>
            <a:ext cx="3566160" cy="4343400"/>
          </a:xfrm>
          <a:prstGeom prst="rect">
            <a:avLst/>
          </a:prstGeom>
          <a:solidFill>
            <a:srgbClr val="101830"/>
          </a:solidFill>
          <a:ln w="317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691640"/>
            <a:ext cx="356616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7000" rIns="12700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33172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  <a:latin typeface="맑은 고딕"/>
              </a:rPr>
              <a:t>₩ 1,290,000 / 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0175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66"/>
                </a:solidFill>
                <a:latin typeface="맑은 고딕"/>
              </a:rPr>
              <a:t>트레이더 · 대기업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3611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✓  전체 기능 + 모델별 상세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4160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✓  극단 변동성 경보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4709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✓  커스텀 임계값 설정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5257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✓  성과 분석 리포트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217920"/>
            <a:ext cx="11247120" cy="502920"/>
          </a:xfrm>
          <a:prstGeom prst="rect">
            <a:avLst/>
          </a:prstGeom>
          <a:solidFill>
            <a:srgbClr val="10201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217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7AE60"/>
                </a:solidFill>
                <a:latin typeface="맑은 고딕"/>
              </a:rPr>
              <a:t>Standard 200명 = 월 1억  ·  Pro 100명 = 월 1.3억  =  연 최대 15.5억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914400" cy="365760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7000" rIns="127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⏱ 1분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맑은 고딕"/>
              </a:rPr>
              <a:t>시장은 충분히 큽니다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9875520" cy="1188720"/>
          </a:xfrm>
          <a:prstGeom prst="rect">
            <a:avLst/>
          </a:prstGeom>
          <a:solidFill>
            <a:srgbClr val="101830"/>
          </a:solidFill>
          <a:ln w="3175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91640"/>
            <a:ext cx="1188720" cy="118872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7000" rIns="127000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78308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맑은 고딕"/>
              </a:rPr>
              <a:t>전 세계 에너지 리스크 관리 솔루션 시장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28600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A8FF"/>
                </a:solidFill>
                <a:latin typeface="맑은 고딕"/>
              </a:rPr>
              <a:t>$14.2 Billion (2025)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063240"/>
            <a:ext cx="8046720" cy="1188720"/>
          </a:xfrm>
          <a:prstGeom prst="rect">
            <a:avLst/>
          </a:prstGeom>
          <a:solidFill>
            <a:srgbClr val="101830"/>
          </a:solidFill>
          <a:ln w="317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3063240"/>
            <a:ext cx="118872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7000" rIns="127000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15468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맑은 고딕"/>
              </a:rPr>
              <a:t>국내 유류 다소비 기업 (물류·항공·정유)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65760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7AE60"/>
                </a:solidFill>
                <a:latin typeface="맑은 고딕"/>
              </a:rPr>
              <a:t>약 4,200개사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4434840"/>
            <a:ext cx="6217920" cy="1188720"/>
          </a:xfrm>
          <a:prstGeom prst="rect">
            <a:avLst/>
          </a:prstGeom>
          <a:solidFill>
            <a:srgbClr val="101830"/>
          </a:solidFill>
          <a:ln w="317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4434840"/>
            <a:ext cx="1188720" cy="1188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7000" rIns="127000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SOM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5262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맑은 고딕"/>
              </a:rPr>
              <a:t>초기 공략 타겟 (중견 물류사·트레이더)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50292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A623"/>
                </a:solidFill>
                <a:latin typeface="맑은 고딕"/>
              </a:rPr>
              <a:t>200개사 × ₩490,000 = 월 1억 / 연 12억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A623"/>
                </a:solidFill>
                <a:latin typeface="맑은 고딕"/>
              </a:rPr>
              <a:t>초기 목표: SOM 200개사 달성 (연 12억)  —  틈새 공략으로 점유율 확장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914400" cy="365760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7000" rIns="127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⏱ 1분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맑은 고딕"/>
              </a:rPr>
              <a:t>4주 만에 MVP에서 SaaS까지  —  Lean 스프린트 4회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11247120" cy="3657600"/>
          </a:xfrm>
          <a:prstGeom prst="rect">
            <a:avLst/>
          </a:prstGeom>
          <a:solidFill>
            <a:srgbClr val="101428"/>
          </a:solidFill>
          <a:ln w="19050">
            <a:solidFill>
              <a:srgbClr val="55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meline_b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5349240"/>
            <a:ext cx="3657600" cy="1188720"/>
          </a:xfrm>
          <a:prstGeom prst="rect">
            <a:avLst/>
          </a:prstGeom>
          <a:solidFill>
            <a:srgbClr val="101830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394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A623"/>
                </a:solidFill>
                <a:latin typeface="맑은 고딕"/>
              </a:rPr>
              <a:t>★ 예측 오차 40% 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521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66"/>
                </a:solidFill>
                <a:latin typeface="맑은 고딕"/>
              </a:rPr>
              <a:t>오차 점수 0.602 확정 (역대 최고)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5349240"/>
            <a:ext cx="3657600" cy="1188720"/>
          </a:xfrm>
          <a:prstGeom prst="rect">
            <a:avLst/>
          </a:prstGeom>
          <a:solidFill>
            <a:srgbClr val="101830"/>
          </a:solidFill>
          <a:ln w="2540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5394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A8FF"/>
                </a:solidFill>
                <a:latin typeface="맑은 고딕"/>
              </a:rPr>
              <a:t>★ 모델 신뢰도 확보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58521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66"/>
                </a:solidFill>
                <a:latin typeface="맑은 고딕"/>
              </a:rPr>
              <a:t>예측 안정성 27% 향상  불필요 신호 9개 제거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5349240"/>
            <a:ext cx="3657600" cy="1188720"/>
          </a:xfrm>
          <a:prstGeom prst="rect">
            <a:avLst/>
          </a:prstGeom>
          <a:solidFill>
            <a:srgbClr val="10183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53949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7AE60"/>
                </a:solidFill>
                <a:latin typeface="맑은 고딕"/>
              </a:rPr>
              <a:t>★ SaaS 완성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58521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66"/>
                </a:solidFill>
                <a:latin typeface="맑은 고딕"/>
              </a:rPr>
              <a:t>구독·결제·인증 완전 자동화 (Ph.26)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0" cy="365760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7000" rIns="127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⏱ 15초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맑은 고딕"/>
              </a:rPr>
              <a:t>지금 바로 보여드리겠습니다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A8FF"/>
                </a:solidFill>
                <a:latin typeface="맑은 고딕"/>
              </a:rPr>
              <a:t>실제 운영 중인 시스템  ·  라이브 데이터 기반 시연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097280" cy="365760"/>
          </a:xfrm>
          <a:prstGeom prst="rect">
            <a:avLst/>
          </a:prstGeom>
          <a:solidFill>
            <a:srgbClr val="55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7000" rIns="127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⏱ 30초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555566"/>
                </a:solidFill>
                <a:latin typeface="맑은 고딕"/>
              </a:rPr>
              <a:t>날씨 예보 없이 여행 안 가듯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유가 예보 없이 사업하지 마세요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200400"/>
            <a:ext cx="9418320" cy="640080"/>
          </a:xfrm>
          <a:prstGeom prst="rect">
            <a:avLst/>
          </a:prstGeom>
          <a:solidFill>
            <a:srgbClr val="121828"/>
          </a:solidFill>
          <a:ln w="19050"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3200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A8FF"/>
                </a:solidFill>
                <a:latin typeface="맑은 고딕"/>
              </a:rPr>
              <a:t>📊  7일 유가 예측  ·  리스크 등급  ·  극단 변동성 경보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977640"/>
            <a:ext cx="9418320" cy="640080"/>
          </a:xfrm>
          <a:prstGeom prst="rect">
            <a:avLst/>
          </a:prstGeom>
          <a:solidFill>
            <a:srgbClr val="12182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3977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7AE60"/>
                </a:solidFill>
                <a:latin typeface="맑은 고딕"/>
              </a:rPr>
              <a:t>💰  ₩0 무료 체험  →  ₩490,000/월 Standard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754880"/>
            <a:ext cx="9418320" cy="640080"/>
          </a:xfrm>
          <a:prstGeom prst="rect">
            <a:avLst/>
          </a:prstGeom>
          <a:solidFill>
            <a:srgbClr val="121828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4754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A623"/>
                </a:solidFill>
                <a:latin typeface="맑은 고딕"/>
              </a:rPr>
              <a:t>🚀  4주 스프린트  —  지금 바로 사용 가능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문의 · 베타 신청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61264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A8FF"/>
                </a:solidFill>
                <a:latin typeface="맑은 고딕"/>
              </a:rPr>
              <a:t>namzxc6339@gmail.com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5303520"/>
            <a:ext cx="2286000" cy="1417320"/>
          </a:xfrm>
          <a:prstGeom prst="rect">
            <a:avLst/>
          </a:prstGeom>
          <a:solidFill>
            <a:srgbClr val="222233"/>
          </a:solidFill>
          <a:ln w="12700">
            <a:solidFill>
              <a:srgbClr val="55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55778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66"/>
                </a:solidFill>
                <a:latin typeface="맑은 고딕"/>
              </a:rPr>
              <a:t>[ QR 코드
베타 가입 링크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